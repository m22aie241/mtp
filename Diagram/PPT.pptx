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7" r:id="rId8"/>
    <p:sldId id="265" r:id="rId9"/>
    <p:sldId id="263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5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70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255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060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8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06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72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28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4534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771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952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265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77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68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5807-1084-9279-56AA-B37CB04F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AB94B-DE0D-A8DA-92D5-7798DF12C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AE9EC-5DC5-71EF-722F-049C87647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7CBDD-2E6D-0F9C-71AE-704B7850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25C18-10F4-1729-5D19-3522DC96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90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A1892-DC74-4A68-A257-69D14F78C00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529D51D-08BD-4E5A-9271-2B0EE08843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437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88722115_Advancing_Retrieval-Augmented_Generation_RAG_Innovations_Challenges_and_the_Future_of_AI_Reasoning" TargetMode="External"/><Relationship Id="rId2" Type="http://schemas.openxmlformats.org/officeDocument/2006/relationships/hyperlink" Target="https://arxiv.org/abs/2005.11401v4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github.com/M22AIE241/MTP/tree/main/Validate_Execution" TargetMode="External"/><Relationship Id="rId5" Type="http://schemas.openxmlformats.org/officeDocument/2006/relationships/hyperlink" Target="https://github.com/M22AIE241/MTP" TargetMode="External"/><Relationship Id="rId4" Type="http://schemas.openxmlformats.org/officeDocument/2006/relationships/hyperlink" Target="https://arxiv.org/html/2408.04948v1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EA74-9118-2E61-B1DF-D0F07D921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696" y="1470034"/>
            <a:ext cx="8504903" cy="1337133"/>
          </a:xfrm>
        </p:spPr>
        <p:txBody>
          <a:bodyPr>
            <a:normAutofit/>
          </a:bodyPr>
          <a:lstStyle/>
          <a:p>
            <a:r>
              <a:rPr lang="en-US" sz="3200" dirty="0"/>
              <a:t>Cross-Platform Data Migration with Schema Evolution and LLM-Integrated QA Automation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B4E73-DCB5-6793-1628-2A37DD2641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Sourav Ghosh (M22AIE241)</a:t>
            </a:r>
          </a:p>
          <a:p>
            <a:r>
              <a:rPr lang="en-IN" dirty="0"/>
              <a:t>Indian Institute of Technology Jodhpur</a:t>
            </a:r>
          </a:p>
        </p:txBody>
      </p:sp>
    </p:spTree>
    <p:extLst>
      <p:ext uri="{BB962C8B-B14F-4D97-AF65-F5344CB8AC3E}">
        <p14:creationId xmlns:p14="http://schemas.microsoft.com/office/powerpoint/2010/main" val="2739331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ECA5-6726-DFB3-CCF1-8F95B77A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CA3BE-DF83-C515-4F11-B20ED6FBB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sz="1600" dirty="0"/>
              <a:t>Modern data systems demand both scalability and intelligence to support growing data volumes and complex analytical needs.</a:t>
            </a:r>
          </a:p>
          <a:p>
            <a:pPr lvl="0" fontAlgn="base"/>
            <a:r>
              <a:rPr lang="en-US" altLang="en-US" sz="1600" dirty="0"/>
              <a:t>Key challenges include handling schema evolution, real-time data processing, and achieving efficient cloud-native scalability.</a:t>
            </a:r>
          </a:p>
          <a:p>
            <a:pPr fontAlgn="base"/>
            <a:r>
              <a:rPr lang="en-US" altLang="en-US" sz="1600" dirty="0"/>
              <a:t>This work focuses on cross-platform data migration, automated schema evolution, and QA automation powered by LLM-enhanced intelligence.</a:t>
            </a:r>
          </a:p>
          <a:p>
            <a:r>
              <a:rPr lang="en-US" sz="1600" dirty="0"/>
              <a:t>I propose a Hybrid Retrieval-Augmented Generation (RAG) framework capable of reasoning over relational data, performing numerical and quantitative analysis, and delivering precise, contextually grounded answers.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67063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7C33-ECDE-E281-8C6D-B86D8AD28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of the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06DC2-AE50-09F1-FD79-DCAC09AAD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en-US" sz="1400" dirty="0"/>
              <a:t>Traditional vs. Modern Data Systems: Traditional pipelines rely on rigid schemas and batch-oriented workflows, whereas modern architectures embrace flexible schemas, continuous ingestion, and real-time analytics.</a:t>
            </a:r>
          </a:p>
          <a:p>
            <a:pPr fontAlgn="base"/>
            <a:r>
              <a:rPr lang="en-US" altLang="en-US" sz="1400" dirty="0"/>
              <a:t>Dynamic Schema Evolution: Modern platforms support automated schema detection, drift handling, and seamless evolution without breaking downstream consumers.</a:t>
            </a:r>
          </a:p>
          <a:p>
            <a:pPr fontAlgn="base"/>
            <a:r>
              <a:rPr lang="en-US" altLang="en-US" sz="1400" dirty="0"/>
              <a:t>QA Frameworks &amp; Reliability: Robust quality-assurance mechanisms ensure schema validation, anomaly detection, and proactive error resolution across heterogeneous data sources.</a:t>
            </a:r>
          </a:p>
          <a:p>
            <a:pPr fontAlgn="base"/>
            <a:r>
              <a:rPr lang="en-US" altLang="en-US" sz="1400" dirty="0"/>
              <a:t>LLM Integration for Intelligence: Large Language Models enable dynamic query generation, contextual reasoning, and actionable insights—bridging human intent with complex relational datasets.</a:t>
            </a:r>
          </a:p>
        </p:txBody>
      </p:sp>
    </p:spTree>
    <p:extLst>
      <p:ext uri="{BB962C8B-B14F-4D97-AF65-F5344CB8AC3E}">
        <p14:creationId xmlns:p14="http://schemas.microsoft.com/office/powerpoint/2010/main" val="1560996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A9CC-5D02-544F-607B-E9D2143F3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CEE5D-F029-61C4-5801-16D1282A2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base"/>
            <a:r>
              <a:rPr lang="en-US" altLang="en-US" sz="1400" dirty="0"/>
              <a:t>Cross-platform migration with automated schema mapping.</a:t>
            </a:r>
          </a:p>
          <a:p>
            <a:pPr lvl="0" fontAlgn="base"/>
            <a:r>
              <a:rPr lang="en-US" altLang="en-US" sz="1400" dirty="0"/>
              <a:t>Schema evolution tracking with version-aware transformations.</a:t>
            </a:r>
          </a:p>
          <a:p>
            <a:pPr lvl="0" fontAlgn="base"/>
            <a:r>
              <a:rPr lang="en-US" altLang="en-US" sz="1400" dirty="0"/>
              <a:t>LLM-powered QA automation for rule validation, and test-case generation.</a:t>
            </a:r>
          </a:p>
          <a:p>
            <a:pPr lvl="0" fontAlgn="base"/>
            <a:r>
              <a:rPr lang="en-US" altLang="en-US" sz="1400" dirty="0"/>
              <a:t>Hybrid RAG : LLM-based query generation &amp; inference, enabling both quantitative analytics and natural-language insights directly from relational data.</a:t>
            </a:r>
          </a:p>
        </p:txBody>
      </p:sp>
    </p:spTree>
    <p:extLst>
      <p:ext uri="{BB962C8B-B14F-4D97-AF65-F5344CB8AC3E}">
        <p14:creationId xmlns:p14="http://schemas.microsoft.com/office/powerpoint/2010/main" val="481951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7718-FC4D-265B-1700-65C08C11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1277"/>
            <a:ext cx="8596668" cy="1320800"/>
          </a:xfrm>
        </p:spPr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75B449-5E50-86F7-5307-EF0FD1813E9B}"/>
              </a:ext>
            </a:extLst>
          </p:cNvPr>
          <p:cNvSpPr txBox="1"/>
          <p:nvPr/>
        </p:nvSpPr>
        <p:spPr>
          <a:xfrm>
            <a:off x="894735" y="1691148"/>
            <a:ext cx="7688826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Automated Schema Detection &amp; Alignment:</a:t>
            </a:r>
            <a:b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Intelligent identification of schema drift, column-level mismatches, and structural variations across cross-platform systems.</a:t>
            </a:r>
          </a:p>
          <a:p>
            <a:pPr marL="342900" indent="-34290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Real-Time Data Migration with Historical Lineage Tracking:</a:t>
            </a:r>
            <a:b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Continuous synchronization between heterogeneous platforms using CDC, versioned schema history, and audit trails.</a:t>
            </a:r>
          </a:p>
          <a:p>
            <a:pPr marL="342900" indent="-34290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LLM-Enhanced QA Automation:</a:t>
            </a:r>
            <a:b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AI-driven test-case generation, anomaly detection, rule-based validation, and natural-language QA for completeness and accuracy.</a:t>
            </a:r>
          </a:p>
          <a:p>
            <a:pPr marL="342900" indent="-342900" fontAlgn="base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Hybrid RAG over Relational + Unstructured Data:</a:t>
            </a:r>
            <a:b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Enables LLM-powered SQL generation, query rewriting, cross-table reasoning, and inference over factual + contextual data.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456B-3AE2-2ADB-6CBD-2326C6C221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6245" y="530942"/>
            <a:ext cx="8596313" cy="1320800"/>
          </a:xfrm>
        </p:spPr>
        <p:txBody>
          <a:bodyPr/>
          <a:lstStyle/>
          <a:p>
            <a:r>
              <a:rPr lang="en-IN" dirty="0"/>
              <a:t>Schema Detection and Evolution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C8DFEE-B4F5-80C8-3A07-9D3DCC9E1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5" y="1524000"/>
            <a:ext cx="7629832" cy="461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1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79369-47F7-EE11-A24F-BE9F99D56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5" y="1931017"/>
            <a:ext cx="8308258" cy="29959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55C8E70-F85F-46CB-34EB-B1D563BA4DE0}"/>
              </a:ext>
            </a:extLst>
          </p:cNvPr>
          <p:cNvSpPr txBox="1">
            <a:spLocks/>
          </p:cNvSpPr>
          <p:nvPr/>
        </p:nvSpPr>
        <p:spPr>
          <a:xfrm>
            <a:off x="806245" y="530942"/>
            <a:ext cx="85963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Hybrid RAG System</a:t>
            </a:r>
          </a:p>
        </p:txBody>
      </p:sp>
    </p:spTree>
    <p:extLst>
      <p:ext uri="{BB962C8B-B14F-4D97-AF65-F5344CB8AC3E}">
        <p14:creationId xmlns:p14="http://schemas.microsoft.com/office/powerpoint/2010/main" val="424211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FD51C-A5AE-3530-18F1-9CD389E4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906227" cy="816077"/>
          </a:xfrm>
        </p:spPr>
        <p:txBody>
          <a:bodyPr/>
          <a:lstStyle/>
          <a:p>
            <a:r>
              <a:rPr lang="en-IN" dirty="0"/>
              <a:t>Hybrid RAG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22BCC-1AED-2CC7-2CF9-0CADEAA10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fontAlgn="base">
              <a:spcAft>
                <a:spcPct val="0"/>
              </a:spcAft>
            </a:pPr>
            <a:r>
              <a:rPr lang="en-US" altLang="en-US" sz="1400" dirty="0"/>
              <a:t>User Query: User asks a natural-language business question.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dirty="0"/>
              <a:t>RAG Retrieval: Question is embedded → Chroma returns the most relevant context.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dirty="0"/>
              <a:t>Decision Engine: </a:t>
            </a:r>
            <a:r>
              <a:rPr lang="en-US" altLang="en-US" sz="1200" dirty="0"/>
              <a:t>If the query needs numbers, filters, or aggregation → SQL mode. </a:t>
            </a:r>
            <a:r>
              <a:rPr lang="en-US" altLang="en-US" sz="1400" dirty="0"/>
              <a:t>If it's descriptive or explanatory → RAG mode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dirty="0"/>
              <a:t>SQL Pipeline (Analytical): LLM generates SQL and executes → result is merged with context for a business-friendly answer.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dirty="0"/>
              <a:t>RAG Pipeline (Descriptive): LLM uses retrieved context to produce a clear, natural explanation.</a:t>
            </a:r>
          </a:p>
          <a:p>
            <a:pPr lvl="0" fontAlgn="base">
              <a:spcAft>
                <a:spcPct val="0"/>
              </a:spcAft>
            </a:pPr>
            <a:r>
              <a:rPr lang="en-US" altLang="en-US" sz="1400" dirty="0"/>
              <a:t>Hybrid Answer: For SQL questions, the system blends SQL output + semantic context + reasoning into one concise, insightful response.</a:t>
            </a:r>
          </a:p>
        </p:txBody>
      </p:sp>
    </p:spTree>
    <p:extLst>
      <p:ext uri="{BB962C8B-B14F-4D97-AF65-F5344CB8AC3E}">
        <p14:creationId xmlns:p14="http://schemas.microsoft.com/office/powerpoint/2010/main" val="2919077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3201-3E53-0EEF-00B9-C34D372A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25660" cy="796413"/>
          </a:xfrm>
        </p:spPr>
        <p:txBody>
          <a:bodyPr>
            <a:normAutofit/>
          </a:bodyPr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4B352-7B46-4E2D-3A74-EC8898A01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484671"/>
            <a:ext cx="8596668" cy="1622323"/>
          </a:xfrm>
        </p:spPr>
        <p:txBody>
          <a:bodyPr/>
          <a:lstStyle/>
          <a:p>
            <a:r>
              <a:rPr lang="en-US" sz="1400" dirty="0">
                <a:solidFill>
                  <a:srgbClr val="5F5F5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</a:t>
            </a:r>
            <a:r>
              <a:rPr lang="en-US" sz="14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2005.11401v4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rgbClr val="5F5F5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https://www.researchgate.net/publication/388722115_Advancing_Retrieval-Augmented_Generation_RAG_Innovations_Challenges_and_the_Future_of_AI_</a:t>
            </a:r>
            <a:r>
              <a:rPr lang="en-US" sz="1400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Reasoning</a:t>
            </a: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rgbClr val="5F5F5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https://arxiv.org/html/</a:t>
            </a:r>
            <a:r>
              <a:rPr lang="en-US" sz="1400" b="1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2408.04948v1</a:t>
            </a:r>
            <a:endParaRPr lang="en-US" sz="1400" b="1" dirty="0">
              <a:solidFill>
                <a:schemeClr val="tx1"/>
              </a:solidFill>
            </a:endParaRPr>
          </a:p>
          <a:p>
            <a:endParaRPr lang="en-US" sz="1400" dirty="0"/>
          </a:p>
          <a:p>
            <a:endParaRPr lang="en-US" sz="1400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E7DCF9-047D-A986-70A2-18A8AA3E9B7A}"/>
              </a:ext>
            </a:extLst>
          </p:cNvPr>
          <p:cNvSpPr txBox="1">
            <a:spLocks/>
          </p:cNvSpPr>
          <p:nvPr/>
        </p:nvSpPr>
        <p:spPr>
          <a:xfrm>
            <a:off x="677334" y="3364809"/>
            <a:ext cx="8525660" cy="7964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Repository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9D5345-C0AC-3C71-EE63-3FD796D18075}"/>
              </a:ext>
            </a:extLst>
          </p:cNvPr>
          <p:cNvSpPr txBox="1">
            <a:spLocks/>
          </p:cNvSpPr>
          <p:nvPr/>
        </p:nvSpPr>
        <p:spPr>
          <a:xfrm>
            <a:off x="677334" y="4242621"/>
            <a:ext cx="8596668" cy="948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hlinkClick r:id="rId5"/>
              </a:rPr>
              <a:t>https://github.com/M22AIE241/MTP</a:t>
            </a:r>
            <a:endParaRPr lang="en-US" sz="1400" dirty="0"/>
          </a:p>
          <a:p>
            <a:r>
              <a:rPr lang="en-US" sz="1400" dirty="0"/>
              <a:t>Execution Snippets: </a:t>
            </a:r>
            <a:r>
              <a:rPr lang="en-US" sz="1400" dirty="0">
                <a:hlinkClick r:id="rId6"/>
              </a:rPr>
              <a:t>https://github.com/M22AIE241/MTP/tree/main/Validate_Execution</a:t>
            </a: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4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14865-62E0-5C2D-7279-6222DCF1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6228-C1E7-1782-1229-0FA90D13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27236-B051-E7BA-FD70-77EB177D7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1484671"/>
            <a:ext cx="8596668" cy="4556691"/>
          </a:xfrm>
        </p:spPr>
        <p:txBody>
          <a:bodyPr/>
          <a:lstStyle/>
          <a:p>
            <a:r>
              <a:rPr lang="en-US" sz="1400" dirty="0"/>
              <a:t>Fine-Tuning a Local SLM on Specific Data: Train a small language model (SLM) locally using knowledge distillation and </a:t>
            </a:r>
            <a:r>
              <a:rPr lang="en-US" sz="1400" dirty="0" err="1"/>
              <a:t>LoRA</a:t>
            </a:r>
            <a:r>
              <a:rPr lang="en-US" sz="1400" dirty="0"/>
              <a:t> to improve SQL generation accuracy, Domain-specific reasoning, Context understanding.</a:t>
            </a:r>
          </a:p>
          <a:p>
            <a:r>
              <a:rPr lang="en-US" sz="1400" b="1" dirty="0"/>
              <a:t>Query Planning &amp; SQL Debugging Agent: </a:t>
            </a:r>
            <a:r>
              <a:rPr lang="en-US" sz="1400" dirty="0"/>
              <a:t>Introduce an LLM-powered “SQL Reviewer” that validates, corrects, and optimizes generated SQL before execution.</a:t>
            </a:r>
          </a:p>
          <a:p>
            <a:r>
              <a:rPr lang="en-US" sz="1400" b="1" dirty="0"/>
              <a:t>Multi-Modal RAG Integration: </a:t>
            </a:r>
            <a:r>
              <a:rPr lang="en-US" sz="1400" dirty="0"/>
              <a:t>Incorporate PDFs, images, dashboards, and logs into the vector DB for richer business insights beyond CSVs.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833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903</TotalTime>
  <Words>656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Cross-Platform Data Migration with Schema Evolution and LLM-Integrated QA Automation</vt:lpstr>
      <vt:lpstr>Introduction</vt:lpstr>
      <vt:lpstr>Background of the work</vt:lpstr>
      <vt:lpstr>Problem Definition</vt:lpstr>
      <vt:lpstr>Architecture</vt:lpstr>
      <vt:lpstr>Schema Detection and Evolution</vt:lpstr>
      <vt:lpstr>PowerPoint Presentation</vt:lpstr>
      <vt:lpstr>Hybrid RAG System</vt:lpstr>
      <vt:lpstr>References</vt:lpstr>
      <vt:lpstr>Future Scope: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Ghosh</dc:creator>
  <cp:lastModifiedBy>Sourav Ghosh</cp:lastModifiedBy>
  <cp:revision>5</cp:revision>
  <dcterms:created xsi:type="dcterms:W3CDTF">2024-11-25T06:37:08Z</dcterms:created>
  <dcterms:modified xsi:type="dcterms:W3CDTF">2025-11-19T20:58:28Z</dcterms:modified>
</cp:coreProperties>
</file>